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257" r:id="rId5"/>
    <p:sldId id="258" r:id="rId4"/>
    <p:sldId id="259" r:id="rId3"/>
    <p:sldId id="260" r:id="rId15"/>
    <p:sldId id="261" r:id="rId16"/>
    <p:sldId id="262" r:id="rId17"/>
    <p:sldId id="263" r:id="rId18"/>
  </p:sldIdLst>
  <p:sldSz cx="9144000" cy="5143500" type="screen16x9"/>
  <p:notesSz cx="6858000" cy="9144000"/>
  <p:embeddedFontLst>
    <p:embeddedFont>
      <p:font typeface="Josefin Sans" pitchFamily="2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6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0EC36E-2BDE-483F-AFAA-11CC0E33343B}">
  <a:tblStyle styleId="{0F0EC36E-2BDE-483F-AFAA-11CC0E33343B}" styleName="Table_0"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3E5E8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0076B9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3797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004C7F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C1D7547-5635-44BB-97E2-D03E0782202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7296198-F28D-4970-990A-6EC3F2CE98EB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DF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F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42F0156-1D60-4D5E-ABAA-4BB758E7B43A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5"/>
  </p:normalViewPr>
  <p:slideViewPr>
    <p:cSldViewPr snapToGrid="0">
      <p:cViewPr varScale="1">
        <p:scale>
          <a:sx n="62" d="100"/>
          <a:sy n="62" d="100"/>
        </p:scale>
        <p:origin x="176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対応件数</c:v>
                </c:pt>
              </c:strCache>
            </c:strRef>
          </c:tx>
          <c:spPr>
            <a:solidFill>
              <a:srgbClr val="EC6739"/>
            </a:solidFill>
          </c:spPr>
          <c:cat>
            <c:strRef>
              <c:f>Sheet1!$A$2:$A$3</c:f>
              <c:strCache>
                <c:ptCount val="2"/>
                <c:pt idx="0">
                  <c:v>導入前</c:v>
                </c:pt>
                <c:pt idx="1">
                  <c:v>導入後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320</c:v>
                </c:pt>
                <c:pt idx="1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43434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3434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3434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裏紙">
  <p:cSld name="裏紙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C6739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100" dirty="0">
              <a:solidFill>
                <a:srgbClr val="EC6739"/>
              </a:solidFill>
            </a:endParaRPr>
          </a:p>
        </p:txBody>
      </p:sp>
      <p:pic>
        <p:nvPicPr>
          <p:cNvPr id="43" name="Google Shape;43;p7" descr="header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2908" y="2183383"/>
            <a:ext cx="3107032" cy="77675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 txBox="1"/>
          <p:nvPr/>
        </p:nvSpPr>
        <p:spPr>
          <a:xfrm>
            <a:off x="7827649" y="4710559"/>
            <a:ext cx="10497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Josefin Sans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CONFIDENTIAL</a:t>
            </a:r>
            <a:endParaRPr sz="500"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3998500" y="2278375"/>
            <a:ext cx="37767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タイトル&amp;サブタイトル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17127" y="119539"/>
            <a:ext cx="8904900" cy="4904400"/>
          </a:xfrm>
          <a:prstGeom prst="rect">
            <a:avLst/>
          </a:prstGeom>
          <a:solidFill>
            <a:srgbClr val="EC673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3968510" y="2560591"/>
            <a:ext cx="1206900" cy="2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66750" y="1404088"/>
            <a:ext cx="78105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66750" y="3033713"/>
            <a:ext cx="7810500" cy="17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5pPr>
            <a:lvl6pPr marL="2743200" lvl="5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3"/>
          <p:cNvSpPr/>
          <p:nvPr/>
        </p:nvSpPr>
        <p:spPr>
          <a:xfrm>
            <a:off x="8305800" y="-824880"/>
            <a:ext cx="1682100" cy="1682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C6739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100" dirty="0">
              <a:solidFill>
                <a:srgbClr val="EC6739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ページ番号+タイトル社外秘">
  <p:cSld name="ページ番号+タイトル社外秘">
    <p:bg>
      <p:bgPr>
        <a:solidFill>
          <a:srgbClr val="EC6739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117127" y="119539"/>
            <a:ext cx="8904900" cy="490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8305800" y="-824880"/>
            <a:ext cx="1682100" cy="1682100"/>
          </a:xfrm>
          <a:prstGeom prst="ellipse">
            <a:avLst/>
          </a:prstGeom>
          <a:solidFill>
            <a:srgbClr val="EC673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3968510" y="2531015"/>
            <a:ext cx="1206900" cy="2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85775" y="510400"/>
            <a:ext cx="80664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None/>
              <a:defRPr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85763" y="338138"/>
            <a:ext cx="4921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  <p:grpSp>
        <p:nvGrpSpPr>
          <p:cNvPr id="33" name="Google Shape;33;p5"/>
          <p:cNvGrpSpPr/>
          <p:nvPr/>
        </p:nvGrpSpPr>
        <p:grpSpPr>
          <a:xfrm>
            <a:off x="7736541" y="4650084"/>
            <a:ext cx="1207013" cy="298238"/>
            <a:chOff x="0" y="0"/>
            <a:chExt cx="3218700" cy="795300"/>
          </a:xfrm>
        </p:grpSpPr>
        <p:sp>
          <p:nvSpPr>
            <p:cNvPr id="34" name="Google Shape;34;p5"/>
            <p:cNvSpPr/>
            <p:nvPr/>
          </p:nvSpPr>
          <p:spPr>
            <a:xfrm>
              <a:off x="0" y="0"/>
              <a:ext cx="3218700" cy="795300"/>
            </a:xfrm>
            <a:prstGeom prst="roundRect">
              <a:avLst>
                <a:gd name="adj" fmla="val 18750"/>
              </a:avLst>
            </a:prstGeom>
            <a:solidFill>
              <a:srgbClr val="EC673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"/>
            <p:cNvSpPr txBox="1"/>
            <p:nvPr/>
          </p:nvSpPr>
          <p:spPr>
            <a:xfrm>
              <a:off x="242954" y="161266"/>
              <a:ext cx="2799000" cy="44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Josefin Sans"/>
                <a:buNone/>
              </a:pPr>
              <a:r>
                <a:rPr lang="en-US" sz="800" b="1" i="0" u="none" strike="noStrike" cap="none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CONFIDENTIAL</a:t>
              </a:r>
              <a:endParaRPr sz="500"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300" b="1" i="1" u="none" strike="noStrike" cap="none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表紙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C6739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b="1" i="1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1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17127" y="119539"/>
            <a:ext cx="8904900" cy="4904400"/>
          </a:xfrm>
          <a:prstGeom prst="rect">
            <a:avLst/>
          </a:prstGeom>
          <a:solidFill>
            <a:srgbClr val="EC673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8305800" y="-824880"/>
            <a:ext cx="1682100" cy="1682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C6739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EE613D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666750" y="1404088"/>
            <a:ext cx="78105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666750" y="3033713"/>
            <a:ext cx="7810500" cy="17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1" r:id="rId3"/>
    <p:sldLayoutId id="214748364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</a:pPr>
            <a:fld id="{00000000-1234-1234-1234-123412341234}" type="slidenum">
              <a:rPr lang="en-US"/>
              <a:t>1</a:t>
            </a:fld>
            <a:endParaRPr sz="2100" dirty="0"/>
          </a:p>
        </p:txBody>
      </p:sp>
      <p:pic>
        <p:nvPicPr>
          <p:cNvPr id="85" name="Google Shape;85;p11" descr="header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908" y="2183383"/>
            <a:ext cx="3107032" cy="77675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1"/>
          <p:cNvSpPr txBox="1"/>
          <p:nvPr/>
        </p:nvSpPr>
        <p:spPr>
          <a:xfrm>
            <a:off x="3998500" y="2028590"/>
            <a:ext cx="4766100" cy="108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Josefin Sans"/>
              <a:buNone/>
            </a:pPr>
            <a:r>
              <a:rPr sz="1200" b="0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サンプル商事株式会社 御中</a:t>
            </a:r>
            <a:endParaRPr sz="1600" b="1" dirty="0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r>
              <a:rPr sz="17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社内問い合わせ対応 AIチャットボット導入のご提案</a:t>
            </a:r>
          </a:p>
          <a:p>
            <a:r>
              <a:rPr sz="1000" b="0" i="1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回答待ち時間と担当者の工数を同時に削減します。</a:t>
            </a:r>
          </a:p>
          <a:p>
            <a:r>
              <a:rPr sz="1000" b="0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株式会社サンプルソリューションズ　／　2026年6月　／　Ver. 1.0</a:t>
            </a:r>
          </a:p>
        </p:txBody>
      </p:sp>
      <p:sp>
        <p:nvSpPr>
          <p:cNvPr id="87" name="Google Shape;87;p11"/>
          <p:cNvSpPr txBox="1"/>
          <p:nvPr/>
        </p:nvSpPr>
        <p:spPr>
          <a:xfrm>
            <a:off x="7591399" y="4784173"/>
            <a:ext cx="14103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Josefi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CONFIDENTIAL</a:t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 marL="0" indent="0"/>
            <a:r>
              <a:rPr sz="24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社内問い合わせを AI が一次対応する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 marL="0" indent="0"/>
            <a:r>
              <a:rPr sz="1200" b="0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OVERVIEW / 全体コンセプト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200" y="1087200"/>
            <a:ext cx="8373600" cy="22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「探す・聞く・待つ」をなくし、社員が本来業務に集中できる状態をつくる。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5200" y="1386000"/>
            <a:ext cx="8373600" cy="396000"/>
          </a:xfrm>
          <a:prstGeom prst="roundRect">
            <a:avLst>
              <a:gd name="adj" fmla="val 18000"/>
            </a:avLst>
          </a:prstGeom>
          <a:solidFill>
            <a:srgbClr val="F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5200" y="1386000"/>
            <a:ext cx="50400" cy="396000"/>
          </a:xfrm>
          <a:prstGeom prst="rect">
            <a:avLst/>
          </a:prstGeom>
          <a:solidFill>
            <a:srgbClr val="EC6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3200" y="1386000"/>
            <a:ext cx="80136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5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散在する社内ナレッジを AI に集約し、問い合わせの一次対応を自動化する。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5200" y="1925999"/>
            <a:ext cx="2647200" cy="2088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5200" y="2106000"/>
            <a:ext cx="360000" cy="360000"/>
          </a:xfrm>
          <a:prstGeom prst="roundRect">
            <a:avLst>
              <a:gd name="adj" fmla="val 25000"/>
            </a:avLst>
          </a:prstGeom>
          <a:solidFill>
            <a:srgbClr val="EC6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200" y="2088000"/>
            <a:ext cx="18912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対応の属人化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200" y="2664000"/>
            <a:ext cx="2287200" cy="117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規程や手続きの問い合わせが特定担当に集中し、回答待ちが常態化している。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8400" y="1925999"/>
            <a:ext cx="2647200" cy="2088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400" y="2106000"/>
            <a:ext cx="360000" cy="3600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4400" y="2088000"/>
            <a:ext cx="18912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AIで一次対応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400" y="2664000"/>
            <a:ext cx="2287200" cy="117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既存のマニュアル・FAQ・規程を AI が参照し、24時間その場で一次回答する。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1600" y="1925999"/>
            <a:ext cx="2647200" cy="2088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600" y="2106000"/>
            <a:ext cx="360000" cy="360000"/>
          </a:xfrm>
          <a:prstGeom prst="roundRect">
            <a:avLst>
              <a:gd name="adj" fmla="val 25000"/>
            </a:avLst>
          </a:prstGeom>
          <a:solidFill>
            <a:srgbClr val="5E8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7600" y="2088000"/>
            <a:ext cx="18912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工数と時間を削減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600" y="2664000"/>
            <a:ext cx="2287200" cy="117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一次対応の自動化で、回答待ち時間と担当者の対応件数を同時に圧縮する。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7200" y="165600"/>
            <a:ext cx="417600" cy="38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25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PART  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FFFFF"/>
                </a:solidFill>
                <a:latin typeface="Arial"/>
                <a:ea typeface="Noto Sans JP"/>
                <a:cs typeface="Noto Sans JP"/>
              </a:rPr>
              <a:t>課題の整理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Arial"/>
                <a:ea typeface="Noto Sans JP"/>
                <a:cs typeface="Noto Sans JP"/>
              </a:rPr>
              <a:t>いまの問い合わせ対応の何がボトルネックか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7200" y="165600"/>
            <a:ext cx="417600" cy="38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i="0">
                <a:solidFill>
                  <a:srgbClr val="EC6739"/>
                </a:solidFill>
                <a:latin typeface="Josefin Sans"/>
                <a:ea typeface="Noto Sans JP"/>
                <a:cs typeface="Noto Sans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 marL="0" indent="0"/>
            <a:r>
              <a:rPr sz="24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問い合わせ対応が人に依存したまま放置されている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 marL="0" indent="0"/>
            <a:r>
              <a:rPr sz="1200" b="0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BACKGROUND / 現状の課題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200" y="1087200"/>
            <a:ext cx="8373600" cy="22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いまの運用は「人に依存した一次対応」が前提で、滞りとばらつきを生んでいる。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5200" y="1422000"/>
            <a:ext cx="4060800" cy="25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5200" y="1602000"/>
            <a:ext cx="37008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AS-IS：いまの状態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200" y="1908000"/>
            <a:ext cx="3700800" cy="22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C25450"/>
                </a:solidFill>
                <a:latin typeface="Arial"/>
                <a:ea typeface="Noto Sans JP"/>
                <a:cs typeface="Noto Sans JP"/>
              </a:rPr>
              <a:t>人に依存した運用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200" y="2160000"/>
            <a:ext cx="3700800" cy="160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・問い合わせ窓口が特定担当に集中し、不在時は回答が止まる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・同じ質問が繰り返し寄せられ、都度ゼロから回答している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・回答の根拠が個人の記憶に依存し、内容にばらつきがある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8000" y="1422000"/>
            <a:ext cx="4060800" cy="25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8000" y="1602000"/>
            <a:ext cx="37008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TO-BE：あるべき姿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8000" y="1908000"/>
            <a:ext cx="3700800" cy="22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E8B7E"/>
                </a:solidFill>
                <a:latin typeface="Arial"/>
                <a:ea typeface="Noto Sans JP"/>
                <a:cs typeface="Noto Sans JP"/>
              </a:rPr>
              <a:t>AIが一次対応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8000" y="2160000"/>
            <a:ext cx="3700800" cy="160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・一次対応を AI が担い、担当者は例外対応に専念できる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・よくある質問はその場で即時回答され、待ち時間が消える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・回答は常に最新のナレッジを根拠とし、品質が安定する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7200" y="165600"/>
            <a:ext cx="417600" cy="38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25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PART  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FFFFF"/>
                </a:solidFill>
                <a:latin typeface="Arial"/>
                <a:ea typeface="Noto Sans JP"/>
                <a:cs typeface="Noto Sans JP"/>
              </a:rPr>
              <a:t>ご提案内容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Arial"/>
                <a:ea typeface="Noto Sans JP"/>
                <a:cs typeface="Noto Sans JP"/>
              </a:rPr>
              <a:t>社内ナレッジを AI に集約し対応を自動化する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57200" y="165600"/>
            <a:ext cx="417600" cy="38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i="0">
                <a:solidFill>
                  <a:srgbClr val="EC6739"/>
                </a:solidFill>
                <a:latin typeface="Josefin Sans"/>
                <a:ea typeface="Noto Sans JP"/>
                <a:cs typeface="Noto Sans JP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 marL="0" indent="0"/>
            <a:r>
              <a:rPr sz="24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「集める → 学習する → 答える」で自動化する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 marL="0" indent="0"/>
            <a:r>
              <a:rPr sz="1200" b="0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SOLUTION / 提案の仕組み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200" y="1087200"/>
            <a:ext cx="8373600" cy="22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散在するナレッジを集約し、AI が根拠付きで一次回答する3ステップ。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5200" y="1512000"/>
            <a:ext cx="2502000" cy="18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5200" y="1692000"/>
            <a:ext cx="360000" cy="360000"/>
          </a:xfrm>
          <a:prstGeom prst="roundRect">
            <a:avLst>
              <a:gd name="adj" fmla="val 25000"/>
            </a:avLst>
          </a:prstGeom>
          <a:solidFill>
            <a:srgbClr val="EC6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" y="1674000"/>
            <a:ext cx="17460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集める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200" y="2250000"/>
            <a:ext cx="2142000" cy="88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マニュアル・FAQ・規程など散在するナレッジを一箇所に集約する。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00" y="1512000"/>
            <a:ext cx="2502000" cy="18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99200" y="1692000"/>
            <a:ext cx="360000" cy="360000"/>
          </a:xfrm>
          <a:prstGeom prst="roundRect">
            <a:avLst>
              <a:gd name="adj" fmla="val 25000"/>
            </a:avLst>
          </a:prstGeom>
          <a:solidFill>
            <a:srgbClr val="EC6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5200" y="1674000"/>
            <a:ext cx="17460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学習する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9200" y="2250000"/>
            <a:ext cx="2142000" cy="88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集約したナレッジを AI が参照できる形に整え、引用可能にする。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3200" y="1512000"/>
            <a:ext cx="2502000" cy="18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33200" y="1692000"/>
            <a:ext cx="360000" cy="360000"/>
          </a:xfrm>
          <a:prstGeom prst="roundRect">
            <a:avLst>
              <a:gd name="adj" fmla="val 25000"/>
            </a:avLst>
          </a:prstGeom>
          <a:solidFill>
            <a:srgbClr val="EC6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3200" rIns="43200" tIns="18000" bIns="18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9200" y="1674000"/>
            <a:ext cx="17460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答える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3200" y="2250000"/>
            <a:ext cx="2142000" cy="88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社員はチャットで質問し、AI が根拠付きで一次回答する。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41200" y="2412000"/>
            <a:ext cx="324000" cy="0"/>
          </a:xfrm>
          <a:prstGeom prst="line">
            <a:avLst/>
          </a:prstGeom>
          <a:ln w="19050">
            <a:solidFill>
              <a:srgbClr val="EC67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75200" y="2412000"/>
            <a:ext cx="324000" cy="0"/>
          </a:xfrm>
          <a:prstGeom prst="line">
            <a:avLst/>
          </a:prstGeom>
          <a:ln w="19050">
            <a:solidFill>
              <a:srgbClr val="EC67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5200" y="3564000"/>
            <a:ext cx="8373600" cy="468000"/>
          </a:xfrm>
          <a:prstGeom prst="roundRect">
            <a:avLst>
              <a:gd name="adj" fmla="val 18000"/>
            </a:avLst>
          </a:prstGeom>
          <a:solidFill>
            <a:srgbClr val="F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5200" y="3564000"/>
            <a:ext cx="50400" cy="468000"/>
          </a:xfrm>
          <a:prstGeom prst="rect">
            <a:avLst/>
          </a:prstGeom>
          <a:solidFill>
            <a:srgbClr val="EC6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200" y="3564000"/>
            <a:ext cx="8013600" cy="46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5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社員はチャットで質問するだけ。AI が最新ナレッジを根拠に一次回答する。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7200" y="165600"/>
            <a:ext cx="417600" cy="38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 marL="0" indent="0"/>
            <a:r>
              <a:rPr sz="24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待ち時間と対応工数を同時に削減できる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 marL="0" indent="0"/>
            <a:r>
              <a:rPr sz="1200" b="0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OUTCOME / 期待効果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200" y="1087200"/>
            <a:ext cx="8373600" cy="22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一次対応の自動化で、回答待ち時間と担当者の対応工数を大きく削減できる。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200" y="1422000"/>
            <a:ext cx="4680000" cy="19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担当者の月間対応件数（件 ／ 試算）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85200" y="1655999"/>
          <a:ext cx="4680000" cy="21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220000" y="1422000"/>
            <a:ext cx="3538800" cy="115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0" y="1602000"/>
            <a:ext cx="31788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回答待ち時間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0" y="1908000"/>
            <a:ext cx="3178800" cy="486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平均 4.0時間 → 0.5時間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一次回答が即時化し待ち時間が消える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20000" y="2664000"/>
            <a:ext cx="3538800" cy="115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0" y="2844000"/>
            <a:ext cx="3178800" cy="25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月間対応件数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3150000"/>
            <a:ext cx="3178800" cy="486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320件 → 90件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6B6B"/>
                </a:solidFill>
                <a:latin typeface="Arial"/>
                <a:ea typeface="Noto Sans JP"/>
                <a:cs typeface="Noto Sans JP"/>
              </a:rPr>
              <a:t>担当者の負荷を約7割削減できる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5200" y="3960000"/>
            <a:ext cx="8373600" cy="450000"/>
          </a:xfrm>
          <a:prstGeom prst="roundRect">
            <a:avLst>
              <a:gd name="adj" fmla="val 18000"/>
            </a:avLst>
          </a:prstGeom>
          <a:solidFill>
            <a:srgbClr val="F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5200" y="3960000"/>
            <a:ext cx="50400" cy="450000"/>
          </a:xfrm>
          <a:prstGeom prst="rect">
            <a:avLst/>
          </a:prstGeom>
          <a:solidFill>
            <a:srgbClr val="EC6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200" y="3960000"/>
            <a:ext cx="8013600" cy="4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50" b="1" i="0">
                <a:solidFill>
                  <a:srgbClr val="434343"/>
                </a:solidFill>
                <a:latin typeface="Arial"/>
                <a:ea typeface="Noto Sans JP"/>
                <a:cs typeface="Noto Sans JP"/>
              </a:rPr>
              <a:t>AI が一次対応を担うことで、担当者は判断が必要な例外対応に集中できる。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7200" y="165600"/>
            <a:ext cx="417600" cy="38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Josefin Sans"/>
                <a:ea typeface="Noto Sans JP"/>
                <a:cs typeface="Noto Sans JP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2" name="Google Shape;1132;p78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E613D"/>
              </a:buClr>
              <a:buSzPts val="2300"/>
              <a:buFont typeface="Josefin Sans"/>
              <a:buNone/>
            </a:pPr>
            <a:fld id="{00000000-1234-1234-1234-123412341234}" type="slidenum">
              <a:rPr lang="en-US"/>
              <a:t>4</a:t>
            </a:fld>
            <a:endParaRPr sz="2100" dirty="0"/>
          </a:p>
        </p:txBody>
      </p:sp>
      <p:pic>
        <p:nvPicPr>
          <p:cNvPr id="1133" name="Google Shape;1133;p78" descr="header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2908" y="2183383"/>
            <a:ext cx="3107032" cy="776758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78"/>
          <p:cNvSpPr txBox="1"/>
          <p:nvPr/>
        </p:nvSpPr>
        <p:spPr>
          <a:xfrm>
            <a:off x="2848356" y="2278389"/>
            <a:ext cx="34473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Josefin Sans"/>
              <a:buNone/>
            </a:pPr>
            <a:r>
              <a:rPr lang="en-US" sz="16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Fin.</a:t>
            </a:r>
            <a:endParaRPr sz="1600" b="1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135" name="TextBox 1134"/>
          <p:cNvSpPr txBox="1"/>
          <p:nvPr/>
        </p:nvSpPr>
        <p:spPr>
          <a:xfrm>
            <a:off x="8557200" y="165600"/>
            <a:ext cx="417600" cy="38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i="0">
                <a:solidFill>
                  <a:srgbClr val="EC6739"/>
                </a:solidFill>
                <a:latin typeface="Josefin Sans"/>
                <a:ea typeface="Noto Sans JP"/>
                <a:cs typeface="Noto Sans JP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SR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EC6739"/>
      </a:accent1>
      <a:accent2>
        <a:srgbClr val="1F4E79"/>
      </a:accent2>
      <a:accent3>
        <a:srgbClr val="5E8B7E"/>
      </a:accent3>
      <a:accent4>
        <a:srgbClr val="C25450"/>
      </a:accent4>
      <a:accent5>
        <a:srgbClr val="B0851B"/>
      </a:accent5>
      <a:accent6>
        <a:srgbClr val="6B6B6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Macintosh PowerPoint</Application>
  <PresentationFormat>画面に合わせる (16:9)</PresentationFormat>
  <Paragraphs>12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Josefin Sans</vt:lpstr>
      <vt:lpstr>Arial</vt:lpstr>
      <vt:lpstr>KSR</vt:lpstr>
      <vt:lpstr>PowerPoint プレゼンテーション</vt:lpstr>
      <vt:lpstr>CHAPTER</vt:lpstr>
      <vt:lpstr>見出し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slide-generator</cp:lastModifiedBy>
  <cp:revision>7</cp:revision>
  <dcterms:modified xsi:type="dcterms:W3CDTF">2026-05-05T16:29:50Z</dcterms:modified>
</cp:coreProperties>
</file>